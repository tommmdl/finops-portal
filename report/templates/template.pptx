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Open Sans ExtraBold"/>
      <p:bold r:id="rId15"/>
      <p:boldItalic r:id="rId16"/>
    </p:embeddedFont>
    <p:embeddedFont>
      <p:font typeface="Open Sans Light"/>
      <p:regular r:id="rId17"/>
      <p:bold r:id="rId18"/>
      <p:italic r:id="rId19"/>
      <p:boldItalic r:id="rId20"/>
    </p:embeddedFont>
    <p:embeddedFont>
      <p:font typeface="Open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jRq54//HBwxdCLVxW80QwWliGtH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B0B711C-D0DE-47C9-B782-D4273240BC84}">
  <a:tblStyle styleId="{1B0B711C-D0DE-47C9-B782-D4273240BC8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penSansLight-boldItalic.fntdata"/><Relationship Id="rId22" Type="http://schemas.openxmlformats.org/officeDocument/2006/relationships/font" Target="fonts/OpenSans-bold.fntdata"/><Relationship Id="rId21" Type="http://schemas.openxmlformats.org/officeDocument/2006/relationships/font" Target="fonts/OpenSans-regular.fntdata"/><Relationship Id="rId24" Type="http://schemas.openxmlformats.org/officeDocument/2006/relationships/font" Target="fonts/OpenSans-boldItalic.fntdata"/><Relationship Id="rId23" Type="http://schemas.openxmlformats.org/officeDocument/2006/relationships/font" Target="fonts/OpenSans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OpenSansExtraBold-bold.fntdata"/><Relationship Id="rId14" Type="http://schemas.openxmlformats.org/officeDocument/2006/relationships/slide" Target="slides/slide9.xml"/><Relationship Id="rId17" Type="http://schemas.openxmlformats.org/officeDocument/2006/relationships/font" Target="fonts/OpenSansLight-regular.fntdata"/><Relationship Id="rId16" Type="http://schemas.openxmlformats.org/officeDocument/2006/relationships/font" Target="fonts/OpenSansExtraBold-boldItalic.fntdata"/><Relationship Id="rId19" Type="http://schemas.openxmlformats.org/officeDocument/2006/relationships/font" Target="fonts/OpenSansLight-italic.fntdata"/><Relationship Id="rId18" Type="http://schemas.openxmlformats.org/officeDocument/2006/relationships/font" Target="fonts/OpenSa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DeaqGa-rPNw3siuMaCnr0c_v0gFyFSsMaCFomKIzSlM/edit?usp=sharing" TargetMode="Externa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VWW9hMMfNozXpJCsAYphPqBEvglOmvskY74Yd6D8mB8/edit?usp=sharing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E1-8bbZ3bAT90KwezmDj_xBhLm2lEyfX2Ilc1sIwpDc/edit?usp=sharing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E1-8bbZ3bAT90KwezmDj_xBhLm2lEyfX2Ilc1sIwpDc/edit?usp=sharing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spreadsheets/d/150rR1kwj_5LX7U2ZgHhCrKJnXBxDnLfD9SGuaGsZSgc/edit?usp=sharing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c9978ee7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g37c9978ee7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1351ab016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g31351ab016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lang="en"/>
              <a:t>Link pro gráfico editável: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https://docs.google.com/spreadsheets/d/1DeaqGa-rPNw3siuMaCnr0c_v0gFyFSsMaCFomKIzSlM/edit?usp=sharing</a:t>
            </a:r>
            <a:r>
              <a:rPr lang="en"/>
              <a:t> (ou só clicar em editar no canto superior direito do gráfico. Editar na planilha e depois clicar em update.) 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1351ab0166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g31351ab0166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lang="en">
                <a:solidFill>
                  <a:schemeClr val="dk1"/>
                </a:solidFill>
              </a:rPr>
              <a:t>Link pro gráfico editável: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https://docs.google.com/spreadsheets/d/1VWW9hMMfNozXpJCsAYphPqBEvglOmvskY74Yd6D8mB8/edit?usp=sharing</a:t>
            </a:r>
            <a:r>
              <a:rPr lang="en">
                <a:solidFill>
                  <a:schemeClr val="dk1"/>
                </a:solidFill>
              </a:rPr>
              <a:t> (ou só clicar em editar no canto superior direito do gráfico. Editar na planilha e depois clicar em update.)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1351ab0166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1351ab0166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https://docs.google.com/spreadsheets/d/1E1-8bbZ3bAT90KwezmDj_xBhLm2lEyfX2Ilc1sIwpDc/edit?usp=sharing</a:t>
            </a:r>
            <a:br>
              <a:rPr lang="en"/>
            </a:br>
            <a:r>
              <a:rPr lang="en"/>
              <a:t>1. Abra a planilha e preencha os valores preservando a formatação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/>
              <a:t>2. Copie as células que gostaria de utilizar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/>
              <a:t>3. Exclua a planilha original do tamplate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/>
              <a:t>4. Cole as células copiadas do sheets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100"/>
              <a:buNone/>
            </a:pPr>
            <a:r>
              <a:rPr lang="en"/>
              <a:t>5. Na opção de colagem, selecione vincular planilha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SzPts val="1100"/>
              <a:buNone/>
            </a:pPr>
            <a:r>
              <a:rPr lang="en"/>
              <a:t>6. Desvincule a planilha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1a09c2c3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g31a09c2c3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https://docs.google.com/spreadsheets/d/1E1-8bbZ3bAT90KwezmDj_xBhLm2lEyfX2Ilc1sIwpDc/edit?usp=sharing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1. Abra a planilha e preencha os valores preservando a formatação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2. Copie as células que gostaria de utilizar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3. Exclua a planilha original do tamplate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4. Cole as células copiadas do sheets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5. Na opção de colagem, selecione vincular planilha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6. Desvincule a planilha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d57395312f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g2d57395312f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2d57395312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g2d57395312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lang="en"/>
              <a:t>Link pro gráfico editável: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https://docs.google.com/spreadsheets/d/150rR1kwj_5LX7U2ZgHhCrKJnXBxDnLfD9SGuaGsZSgc/edit?usp=sharing</a:t>
            </a:r>
            <a:r>
              <a:rPr lang="en"/>
              <a:t> (ou só clicar em editar no canto superior direito do gráfico. Editar na planilha e depois clicar em update.)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d57395312f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d57395312f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SzPts val="1100"/>
              <a:buNone/>
            </a:pPr>
            <a:r>
              <a:rPr lang="en"/>
              <a:t>Colocar print da ferramenta.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d57395312f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g2d57395312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8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jp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6.jp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1351ab0166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g31351ab0166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g31351ab0166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1">
  <p:cSld name="TITLE_1_1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 1">
  <p:cSld name="CUSTOM_9_7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6">
  <p:cSld name="CUSTOM">
    <p:bg>
      <p:bgPr>
        <a:solidFill>
          <a:srgbClr val="00325A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/>
          <p:nvPr/>
        </p:nvSpPr>
        <p:spPr>
          <a:xfrm>
            <a:off x="7487175" y="-2803"/>
            <a:ext cx="16566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4"/>
          <p:cNvSpPr/>
          <p:nvPr/>
        </p:nvSpPr>
        <p:spPr>
          <a:xfrm>
            <a:off x="5081500" y="3600175"/>
            <a:ext cx="25722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4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>
            <a:off x="5694625" y="874700"/>
            <a:ext cx="2635774" cy="3423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" name="Google Shape;17;p14"/>
          <p:cNvCxnSpPr/>
          <p:nvPr/>
        </p:nvCxnSpPr>
        <p:spPr>
          <a:xfrm>
            <a:off x="1081620" y="3780413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" name="Google Shape;1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7" y="1100198"/>
            <a:ext cx="1014369" cy="44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4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C9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0" name="Google Shape;2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8274" y="2509438"/>
            <a:ext cx="668519" cy="3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051301" y="4544050"/>
            <a:ext cx="878674" cy="3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9050" y="4569080"/>
            <a:ext cx="447750" cy="1217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CUSTOM_6_3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5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 rot="-5400000">
            <a:off x="1998175" y="-1998177"/>
            <a:ext cx="5156550" cy="9152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15"/>
          <p:cNvGrpSpPr/>
          <p:nvPr/>
        </p:nvGrpSpPr>
        <p:grpSpPr>
          <a:xfrm>
            <a:off x="-6350" y="-1450"/>
            <a:ext cx="9153147" cy="5146601"/>
            <a:chOff x="927000" y="1313225"/>
            <a:chExt cx="9144003" cy="5146601"/>
          </a:xfrm>
        </p:grpSpPr>
        <p:pic>
          <p:nvPicPr>
            <p:cNvPr id="26" name="Google Shape;26;p15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15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8" name="Google Shape;2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2475" y="4433875"/>
            <a:ext cx="919050" cy="2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5">
  <p:cSld name="CUSTOM_10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6"/>
          <p:cNvPicPr preferRelativeResize="0"/>
          <p:nvPr/>
        </p:nvPicPr>
        <p:blipFill rotWithShape="1">
          <a:blip r:embed="rId2">
            <a:alphaModFix/>
          </a:blip>
          <a:srcRect b="1191" l="2285" r="0" t="0"/>
          <a:stretch/>
        </p:blipFill>
        <p:spPr>
          <a:xfrm>
            <a:off x="5447425" y="0"/>
            <a:ext cx="36965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16"/>
          <p:cNvPicPr preferRelativeResize="0"/>
          <p:nvPr/>
        </p:nvPicPr>
        <p:blipFill rotWithShape="1">
          <a:blip r:embed="rId3">
            <a:alphaModFix amt="83000"/>
          </a:blip>
          <a:srcRect b="0" l="27875" r="0" t="0"/>
          <a:stretch/>
        </p:blipFill>
        <p:spPr>
          <a:xfrm rot="5400000">
            <a:off x="4726074" y="727563"/>
            <a:ext cx="5139276" cy="36883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6"/>
          <p:cNvSpPr/>
          <p:nvPr/>
        </p:nvSpPr>
        <p:spPr>
          <a:xfrm>
            <a:off x="523225" y="1206906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5077326" y="408962"/>
            <a:ext cx="770500" cy="45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3">
  <p:cSld name="CUSTOM_25">
    <p:bg>
      <p:bgPr>
        <a:solidFill>
          <a:srgbClr val="00325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7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90051" y="4303025"/>
            <a:ext cx="878674" cy="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17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" name="Google Shape;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26" y="311338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5">
  <p:cSld name="CUSTOM_26">
    <p:bg>
      <p:bgPr>
        <a:solidFill>
          <a:srgbClr val="00325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8"/>
          <p:cNvSpPr txBox="1"/>
          <p:nvPr/>
        </p:nvSpPr>
        <p:spPr>
          <a:xfrm>
            <a:off x="2123250" y="2697437"/>
            <a:ext cx="4897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Innovative solutions and</a:t>
            </a:r>
            <a:endParaRPr b="0" i="0" sz="11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business impact, </a:t>
            </a:r>
            <a:r>
              <a:rPr b="1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delivered</a:t>
            </a: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15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43" name="Google Shape;43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95175" y="2140976"/>
            <a:ext cx="1753650" cy="47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4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90051" y="4303025"/>
            <a:ext cx="878674" cy="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8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" name="Google Shape;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26" y="311338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CUSTOM_6_2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9"/>
          <p:cNvPicPr preferRelativeResize="0"/>
          <p:nvPr/>
        </p:nvPicPr>
        <p:blipFill rotWithShape="1">
          <a:blip r:embed="rId2">
            <a:alphaModFix/>
          </a:blip>
          <a:srcRect b="0" l="9502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9307" y="4433880"/>
            <a:ext cx="925937" cy="2499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3">
  <p:cSld name="TITLE_AND_BODY_2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0"/>
          <p:cNvPicPr preferRelativeResize="0"/>
          <p:nvPr/>
        </p:nvPicPr>
        <p:blipFill rotWithShape="1">
          <a:blip r:embed="rId2">
            <a:alphaModFix/>
          </a:blip>
          <a:srcRect b="0" l="9502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0"/>
          <p:cNvSpPr/>
          <p:nvPr/>
        </p:nvSpPr>
        <p:spPr>
          <a:xfrm>
            <a:off x="0" y="0"/>
            <a:ext cx="1656600" cy="324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0"/>
          <p:cNvSpPr/>
          <p:nvPr/>
        </p:nvSpPr>
        <p:spPr>
          <a:xfrm>
            <a:off x="2247000" y="3600175"/>
            <a:ext cx="1808400" cy="15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" name="Google Shape;55;p20"/>
          <p:cNvPicPr preferRelativeResize="0"/>
          <p:nvPr/>
        </p:nvPicPr>
        <p:blipFill rotWithShape="1">
          <a:blip r:embed="rId3">
            <a:alphaModFix/>
          </a:blip>
          <a:srcRect b="5597" l="0" r="0" t="0"/>
          <a:stretch/>
        </p:blipFill>
        <p:spPr>
          <a:xfrm>
            <a:off x="841138" y="859775"/>
            <a:ext cx="2635774" cy="34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3846251" y="4283725"/>
            <a:ext cx="878674" cy="38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20"/>
          <p:cNvCxnSpPr/>
          <p:nvPr/>
        </p:nvCxnSpPr>
        <p:spPr>
          <a:xfrm>
            <a:off x="5145736" y="3573300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20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59" name="Google Shape;5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37176" y="4587375"/>
            <a:ext cx="449627" cy="1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6" y="3601412"/>
            <a:ext cx="668526" cy="39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0381" y="2247699"/>
            <a:ext cx="668526" cy="39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-5400000">
            <a:off x="7956543" y="-53064"/>
            <a:ext cx="998927" cy="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4">
  <p:cSld name="TITLE_AND_BODY_6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21"/>
          <p:cNvPicPr preferRelativeResize="0"/>
          <p:nvPr/>
        </p:nvPicPr>
        <p:blipFill rotWithShape="1">
          <a:blip r:embed="rId2">
            <a:alphaModFix/>
          </a:blip>
          <a:srcRect b="0" l="9502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21"/>
          <p:cNvSpPr/>
          <p:nvPr/>
        </p:nvSpPr>
        <p:spPr>
          <a:xfrm>
            <a:off x="7487175" y="-2803"/>
            <a:ext cx="1656600" cy="15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1"/>
          <p:cNvSpPr/>
          <p:nvPr/>
        </p:nvSpPr>
        <p:spPr>
          <a:xfrm>
            <a:off x="5081500" y="3600175"/>
            <a:ext cx="2572200" cy="154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" name="Google Shape;67;p21"/>
          <p:cNvPicPr preferRelativeResize="0"/>
          <p:nvPr/>
        </p:nvPicPr>
        <p:blipFill rotWithShape="1">
          <a:blip r:embed="rId3">
            <a:alphaModFix/>
          </a:blip>
          <a:srcRect b="5597" l="0" r="0" t="0"/>
          <a:stretch/>
        </p:blipFill>
        <p:spPr>
          <a:xfrm>
            <a:off x="5694625" y="874700"/>
            <a:ext cx="2635774" cy="34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8281" y="2510074"/>
            <a:ext cx="668526" cy="39036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21"/>
          <p:cNvCxnSpPr/>
          <p:nvPr/>
        </p:nvCxnSpPr>
        <p:spPr>
          <a:xfrm>
            <a:off x="1081620" y="3780413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21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7F8FD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7F8F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7F8F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71" name="Google Shape;7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720" y="1103847"/>
            <a:ext cx="998927" cy="4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3984706" y="4577886"/>
            <a:ext cx="998927" cy="4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37176" y="4587375"/>
            <a:ext cx="449627" cy="1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5">
  <p:cSld name="TITLE_AND_TWO_COLUMNS_2">
    <p:bg>
      <p:bgPr>
        <a:solidFill>
          <a:srgbClr val="00325A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/>
          <p:nvPr/>
        </p:nvSpPr>
        <p:spPr>
          <a:xfrm>
            <a:off x="0" y="0"/>
            <a:ext cx="1656600" cy="3247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2"/>
          <p:cNvSpPr/>
          <p:nvPr/>
        </p:nvSpPr>
        <p:spPr>
          <a:xfrm>
            <a:off x="2247000" y="3600175"/>
            <a:ext cx="18084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7" name="Google Shape;77;p22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>
            <a:off x="841138" y="859775"/>
            <a:ext cx="2635774" cy="34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46251" y="4283725"/>
            <a:ext cx="878674" cy="38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22"/>
          <p:cNvCxnSpPr/>
          <p:nvPr/>
        </p:nvCxnSpPr>
        <p:spPr>
          <a:xfrm>
            <a:off x="5145736" y="3573300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80" name="Google Shape;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-5400000">
            <a:off x="7955743" y="-66177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050" y="4569080"/>
            <a:ext cx="447750" cy="1217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22"/>
          <p:cNvGrpSpPr/>
          <p:nvPr/>
        </p:nvGrpSpPr>
        <p:grpSpPr>
          <a:xfrm>
            <a:off x="154090" y="1251376"/>
            <a:ext cx="745589" cy="296575"/>
            <a:chOff x="4199215" y="2888526"/>
            <a:chExt cx="745589" cy="296575"/>
          </a:xfrm>
        </p:grpSpPr>
        <p:pic>
          <p:nvPicPr>
            <p:cNvPr id="83" name="Google Shape;83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44828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" name="Google Shape;84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72015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99215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6" name="Google Shape;86;p22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C9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87" name="Google Shape;87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0374" y="2247075"/>
            <a:ext cx="668519" cy="3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199" y="3600163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7">
  <p:cSld name="CUSTOM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/>
          <p:nvPr/>
        </p:nvSpPr>
        <p:spPr>
          <a:xfrm>
            <a:off x="0" y="0"/>
            <a:ext cx="1656600" cy="3247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3"/>
          <p:cNvSpPr/>
          <p:nvPr/>
        </p:nvSpPr>
        <p:spPr>
          <a:xfrm>
            <a:off x="2247000" y="3600175"/>
            <a:ext cx="18084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23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>
            <a:off x="841138" y="859775"/>
            <a:ext cx="2635774" cy="3423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0150" y="4574500"/>
            <a:ext cx="446650" cy="1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3846251" y="4283725"/>
            <a:ext cx="878674" cy="3878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23"/>
          <p:cNvCxnSpPr/>
          <p:nvPr/>
        </p:nvCxnSpPr>
        <p:spPr>
          <a:xfrm>
            <a:off x="5145736" y="3573300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6" name="Google Shape;9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7955743" y="-66177"/>
            <a:ext cx="1014369" cy="44774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23"/>
          <p:cNvGrpSpPr/>
          <p:nvPr/>
        </p:nvGrpSpPr>
        <p:grpSpPr>
          <a:xfrm>
            <a:off x="154090" y="1251376"/>
            <a:ext cx="745589" cy="296575"/>
            <a:chOff x="4199215" y="2888526"/>
            <a:chExt cx="745589" cy="296575"/>
          </a:xfrm>
        </p:grpSpPr>
        <p:pic>
          <p:nvPicPr>
            <p:cNvPr id="98" name="Google Shape;98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44828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9" name="Google Shape;99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72015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0" name="Google Shape;100;p2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199215" y="2888526"/>
              <a:ext cx="199976" cy="2965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23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C9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00325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20374" y="2247075"/>
            <a:ext cx="668519" cy="3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199" y="3600163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8">
  <p:cSld name="CUSTOM_2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4"/>
          <p:cNvSpPr/>
          <p:nvPr/>
        </p:nvSpPr>
        <p:spPr>
          <a:xfrm>
            <a:off x="7487175" y="-2803"/>
            <a:ext cx="16566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4"/>
          <p:cNvSpPr/>
          <p:nvPr/>
        </p:nvSpPr>
        <p:spPr>
          <a:xfrm>
            <a:off x="5081500" y="3600175"/>
            <a:ext cx="2572200" cy="15432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24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>
            <a:off x="5694625" y="874700"/>
            <a:ext cx="2635774" cy="3423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24"/>
          <p:cNvCxnSpPr/>
          <p:nvPr/>
        </p:nvCxnSpPr>
        <p:spPr>
          <a:xfrm>
            <a:off x="1081620" y="3780413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09" name="Google Shape;10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7" y="1100198"/>
            <a:ext cx="1014369" cy="44774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4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00C9D3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00325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11" name="Google Shape;11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18274" y="2509438"/>
            <a:ext cx="668519" cy="39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4051301" y="4544050"/>
            <a:ext cx="878674" cy="38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40150" y="4574500"/>
            <a:ext cx="446650" cy="12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9">
  <p:cSld name="CUSTOM_3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 rotWithShape="1">
          <a:blip r:embed="rId2">
            <a:alphaModFix/>
          </a:blip>
          <a:srcRect b="0" l="9502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9476" y="4569075"/>
            <a:ext cx="449627" cy="1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5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7F8FD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7F8F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7F8F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118" name="Google Shape;11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7924832" y="283447"/>
            <a:ext cx="998927" cy="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0">
  <p:cSld name="CUSTOM_4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 rotWithShape="1">
          <a:blip r:embed="rId2">
            <a:alphaModFix/>
          </a:blip>
          <a:srcRect b="5597" l="0" r="0" t="0"/>
          <a:stretch/>
        </p:blipFill>
        <p:spPr>
          <a:xfrm rot="-5400000">
            <a:off x="1998175" y="-1998177"/>
            <a:ext cx="5156550" cy="9152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26"/>
          <p:cNvGrpSpPr/>
          <p:nvPr/>
        </p:nvGrpSpPr>
        <p:grpSpPr>
          <a:xfrm>
            <a:off x="-6350" y="-1450"/>
            <a:ext cx="9153147" cy="5146601"/>
            <a:chOff x="927000" y="1313225"/>
            <a:chExt cx="9144003" cy="5146601"/>
          </a:xfrm>
        </p:grpSpPr>
        <p:pic>
          <p:nvPicPr>
            <p:cNvPr id="122" name="Google Shape;122;p26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6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4" name="Google Shape;124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99476" y="4569075"/>
            <a:ext cx="449627" cy="1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7F8FD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7F8F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7F8F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cxnSp>
        <p:nvCxnSpPr>
          <p:cNvPr id="126" name="Google Shape;126;p26"/>
          <p:cNvCxnSpPr/>
          <p:nvPr/>
        </p:nvCxnSpPr>
        <p:spPr>
          <a:xfrm>
            <a:off x="1100386" y="3644100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7" name="Google Shape;12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-165499" y="432450"/>
            <a:ext cx="878674" cy="38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1">
  <p:cSld name="CUSTOM_5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7"/>
          <p:cNvPicPr preferRelativeResize="0"/>
          <p:nvPr/>
        </p:nvPicPr>
        <p:blipFill rotWithShape="1">
          <a:blip r:embed="rId2">
            <a:alphaModFix/>
          </a:blip>
          <a:srcRect b="0" l="9502" r="0" t="0"/>
          <a:stretch/>
        </p:blipFill>
        <p:spPr>
          <a:xfrm rot="10800000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0" name="Google Shape;130;p27"/>
          <p:cNvCxnSpPr/>
          <p:nvPr/>
        </p:nvCxnSpPr>
        <p:spPr>
          <a:xfrm>
            <a:off x="1100386" y="3644100"/>
            <a:ext cx="1881900" cy="0"/>
          </a:xfrm>
          <a:prstGeom prst="straightConnector1">
            <a:avLst/>
          </a:prstGeom>
          <a:noFill/>
          <a:ln cap="flat" cmpd="sng" w="9525">
            <a:solidFill>
              <a:srgbClr val="00C9D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31" name="Google Shape;1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9476" y="4569075"/>
            <a:ext cx="449627" cy="1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285755" y="406161"/>
            <a:ext cx="998927" cy="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2">
  <p:cSld name="CUSTOM_14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8"/>
          <p:cNvSpPr/>
          <p:nvPr/>
        </p:nvSpPr>
        <p:spPr>
          <a:xfrm>
            <a:off x="5974098" y="3007411"/>
            <a:ext cx="393300" cy="384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8"/>
          <p:cNvSpPr/>
          <p:nvPr/>
        </p:nvSpPr>
        <p:spPr>
          <a:xfrm>
            <a:off x="2849972" y="2565225"/>
            <a:ext cx="2404800" cy="25716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8"/>
          <p:cNvSpPr/>
          <p:nvPr/>
        </p:nvSpPr>
        <p:spPr>
          <a:xfrm>
            <a:off x="459051" y="2116696"/>
            <a:ext cx="393300" cy="384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8"/>
          <p:cNvPicPr preferRelativeResize="0"/>
          <p:nvPr/>
        </p:nvPicPr>
        <p:blipFill rotWithShape="1">
          <a:blip r:embed="rId2">
            <a:alphaModFix/>
          </a:blip>
          <a:srcRect b="8292" l="40240" r="33458" t="39485"/>
          <a:stretch/>
        </p:blipFill>
        <p:spPr>
          <a:xfrm>
            <a:off x="2849975" y="2573468"/>
            <a:ext cx="2404803" cy="2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8"/>
          <p:cNvPicPr preferRelativeResize="0"/>
          <p:nvPr/>
        </p:nvPicPr>
        <p:blipFill rotWithShape="1">
          <a:blip r:embed="rId3">
            <a:alphaModFix/>
          </a:blip>
          <a:srcRect b="48608" l="0" r="0" t="21697"/>
          <a:stretch/>
        </p:blipFill>
        <p:spPr>
          <a:xfrm>
            <a:off x="2850000" y="0"/>
            <a:ext cx="6294025" cy="257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977401" y="2413012"/>
            <a:ext cx="770500" cy="4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8"/>
          <p:cNvPicPr preferRelativeResize="0"/>
          <p:nvPr/>
        </p:nvPicPr>
        <p:blipFill rotWithShape="1">
          <a:blip r:embed="rId5">
            <a:alphaModFix amt="52000"/>
          </a:blip>
          <a:srcRect b="0" l="27875" r="0" t="0"/>
          <a:stretch/>
        </p:blipFill>
        <p:spPr>
          <a:xfrm rot="5400000">
            <a:off x="4710987" y="-1862713"/>
            <a:ext cx="2571850" cy="629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5">
  <p:cSld name="CUSTOM_15">
    <p:bg>
      <p:bgPr>
        <a:solidFill>
          <a:srgbClr val="00325A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/>
          <p:nvPr/>
        </p:nvSpPr>
        <p:spPr>
          <a:xfrm>
            <a:off x="5974098" y="3007411"/>
            <a:ext cx="393300" cy="384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9"/>
          <p:cNvSpPr/>
          <p:nvPr/>
        </p:nvSpPr>
        <p:spPr>
          <a:xfrm>
            <a:off x="2849972" y="2565225"/>
            <a:ext cx="2404800" cy="25716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9"/>
          <p:cNvSpPr/>
          <p:nvPr/>
        </p:nvSpPr>
        <p:spPr>
          <a:xfrm>
            <a:off x="459051" y="2149250"/>
            <a:ext cx="393300" cy="384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p29"/>
          <p:cNvPicPr preferRelativeResize="0"/>
          <p:nvPr/>
        </p:nvPicPr>
        <p:blipFill rotWithShape="1">
          <a:blip r:embed="rId2">
            <a:alphaModFix/>
          </a:blip>
          <a:srcRect b="8292" l="40240" r="33458" t="39485"/>
          <a:stretch/>
        </p:blipFill>
        <p:spPr>
          <a:xfrm>
            <a:off x="2849975" y="2573468"/>
            <a:ext cx="2404803" cy="2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9"/>
          <p:cNvPicPr preferRelativeResize="0"/>
          <p:nvPr/>
        </p:nvPicPr>
        <p:blipFill rotWithShape="1">
          <a:blip r:embed="rId3">
            <a:alphaModFix/>
          </a:blip>
          <a:srcRect b="48608" l="0" r="0" t="21697"/>
          <a:stretch/>
        </p:blipFill>
        <p:spPr>
          <a:xfrm>
            <a:off x="2850000" y="0"/>
            <a:ext cx="6294025" cy="2571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977401" y="2413012"/>
            <a:ext cx="770500" cy="4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9"/>
          <p:cNvPicPr preferRelativeResize="0"/>
          <p:nvPr/>
        </p:nvPicPr>
        <p:blipFill rotWithShape="1">
          <a:blip r:embed="rId5">
            <a:alphaModFix amt="52000"/>
          </a:blip>
          <a:srcRect b="0" l="27875" r="0" t="0"/>
          <a:stretch/>
        </p:blipFill>
        <p:spPr>
          <a:xfrm rot="5400000">
            <a:off x="4710987" y="-1862713"/>
            <a:ext cx="2571850" cy="6297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USTOM_7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0"/>
          <p:cNvSpPr/>
          <p:nvPr/>
        </p:nvSpPr>
        <p:spPr>
          <a:xfrm>
            <a:off x="1467250" y="2116675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4064815" y="2350598"/>
            <a:ext cx="1014369" cy="4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">
  <p:cSld name="CUSTOM_8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/>
          <p:nvPr/>
        </p:nvSpPr>
        <p:spPr>
          <a:xfrm>
            <a:off x="457200" y="2123018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3">
  <p:cSld name="CUSTOM_9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4">
  <p:cSld name="CUSTOM_9_1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33"/>
          <p:cNvPicPr preferRelativeResize="0"/>
          <p:nvPr/>
        </p:nvPicPr>
        <p:blipFill rotWithShape="1">
          <a:blip r:embed="rId2">
            <a:alphaModFix/>
          </a:blip>
          <a:srcRect b="36371" l="8684" r="0" t="1296"/>
          <a:stretch/>
        </p:blipFill>
        <p:spPr>
          <a:xfrm>
            <a:off x="4463350" y="1040225"/>
            <a:ext cx="3867151" cy="36318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3"/>
          <p:cNvPicPr preferRelativeResize="0"/>
          <p:nvPr/>
        </p:nvPicPr>
        <p:blipFill rotWithShape="1">
          <a:blip r:embed="rId3">
            <a:alphaModFix amt="52000"/>
          </a:blip>
          <a:srcRect b="0" l="27875" r="0" t="0"/>
          <a:stretch/>
        </p:blipFill>
        <p:spPr>
          <a:xfrm rot="5400000">
            <a:off x="4570037" y="924962"/>
            <a:ext cx="3645200" cy="387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6">
  <p:cSld name="CUSTOM_1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/>
          <p:nvPr/>
        </p:nvSpPr>
        <p:spPr>
          <a:xfrm>
            <a:off x="4292186" y="1206906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0" name="Google Shape;160;p34"/>
          <p:cNvPicPr preferRelativeResize="0"/>
          <p:nvPr/>
        </p:nvPicPr>
        <p:blipFill rotWithShape="1">
          <a:blip r:embed="rId2">
            <a:alphaModFix/>
          </a:blip>
          <a:srcRect b="1191" l="2285" r="0" t="0"/>
          <a:stretch/>
        </p:blipFill>
        <p:spPr>
          <a:xfrm>
            <a:off x="0" y="0"/>
            <a:ext cx="36965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4"/>
          <p:cNvPicPr preferRelativeResize="0"/>
          <p:nvPr/>
        </p:nvPicPr>
        <p:blipFill rotWithShape="1">
          <a:blip r:embed="rId3">
            <a:alphaModFix amt="83000"/>
          </a:blip>
          <a:srcRect b="0" l="27875" r="0" t="0"/>
          <a:stretch/>
        </p:blipFill>
        <p:spPr>
          <a:xfrm rot="5400000">
            <a:off x="-721351" y="727563"/>
            <a:ext cx="5139276" cy="36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7">
  <p:cSld name="CUSTOM_12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/>
          <p:nvPr/>
        </p:nvSpPr>
        <p:spPr>
          <a:xfrm>
            <a:off x="-57650" y="-12875"/>
            <a:ext cx="5538000" cy="515640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32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5"/>
          <p:cNvSpPr/>
          <p:nvPr/>
        </p:nvSpPr>
        <p:spPr>
          <a:xfrm>
            <a:off x="800666" y="1206906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35"/>
          <p:cNvPicPr preferRelativeResize="0"/>
          <p:nvPr/>
        </p:nvPicPr>
        <p:blipFill rotWithShape="1">
          <a:blip r:embed="rId2">
            <a:alphaModFix/>
          </a:blip>
          <a:srcRect b="1191" l="2285" r="0" t="0"/>
          <a:stretch/>
        </p:blipFill>
        <p:spPr>
          <a:xfrm>
            <a:off x="5447425" y="0"/>
            <a:ext cx="36965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35"/>
          <p:cNvPicPr preferRelativeResize="0"/>
          <p:nvPr/>
        </p:nvPicPr>
        <p:blipFill rotWithShape="1">
          <a:blip r:embed="rId3">
            <a:alphaModFix amt="83000"/>
          </a:blip>
          <a:srcRect b="0" l="27875" r="0" t="0"/>
          <a:stretch/>
        </p:blipFill>
        <p:spPr>
          <a:xfrm rot="5400000">
            <a:off x="4726074" y="727563"/>
            <a:ext cx="5139276" cy="36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5077326" y="408962"/>
            <a:ext cx="770500" cy="45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8">
  <p:cSld name="CUSTOM_13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/>
          <p:nvPr/>
        </p:nvSpPr>
        <p:spPr>
          <a:xfrm>
            <a:off x="3606000" y="-17650"/>
            <a:ext cx="5538000" cy="5161200"/>
          </a:xfrm>
          <a:prstGeom prst="rect">
            <a:avLst/>
          </a:prstGeom>
          <a:solidFill>
            <a:srgbClr val="00325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325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6"/>
          <p:cNvSpPr/>
          <p:nvPr/>
        </p:nvSpPr>
        <p:spPr>
          <a:xfrm>
            <a:off x="4299026" y="1206906"/>
            <a:ext cx="4320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36"/>
          <p:cNvPicPr preferRelativeResize="0"/>
          <p:nvPr/>
        </p:nvPicPr>
        <p:blipFill rotWithShape="1">
          <a:blip r:embed="rId2">
            <a:alphaModFix/>
          </a:blip>
          <a:srcRect b="1191" l="2285" r="0" t="0"/>
          <a:stretch/>
        </p:blipFill>
        <p:spPr>
          <a:xfrm>
            <a:off x="0" y="0"/>
            <a:ext cx="3696574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36"/>
          <p:cNvPicPr preferRelativeResize="0"/>
          <p:nvPr/>
        </p:nvPicPr>
        <p:blipFill rotWithShape="1">
          <a:blip r:embed="rId3">
            <a:alphaModFix amt="83000"/>
          </a:blip>
          <a:srcRect b="0" l="27875" r="0" t="0"/>
          <a:stretch/>
        </p:blipFill>
        <p:spPr>
          <a:xfrm rot="5400000">
            <a:off x="-721351" y="727563"/>
            <a:ext cx="5139276" cy="36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6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6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37"/>
          <p:cNvSpPr/>
          <p:nvPr/>
        </p:nvSpPr>
        <p:spPr>
          <a:xfrm rot="-5400000">
            <a:off x="4558200" y="3730212"/>
            <a:ext cx="27600" cy="6279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69DE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6001" y="1038868"/>
            <a:ext cx="770501" cy="449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963470" y="4589986"/>
            <a:ext cx="998927" cy="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2">
  <p:cSld name="CUSTOM_17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38"/>
          <p:cNvPicPr preferRelativeResize="0"/>
          <p:nvPr/>
        </p:nvPicPr>
        <p:blipFill rotWithShape="1">
          <a:blip r:embed="rId2">
            <a:alphaModFix/>
          </a:blip>
          <a:srcRect b="8927" l="0" r="1419" t="7870"/>
          <a:stretch/>
        </p:blipFill>
        <p:spPr>
          <a:xfrm>
            <a:off x="-1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p38"/>
          <p:cNvGrpSpPr/>
          <p:nvPr/>
        </p:nvGrpSpPr>
        <p:grpSpPr>
          <a:xfrm>
            <a:off x="-6350" y="-1450"/>
            <a:ext cx="9153147" cy="5146601"/>
            <a:chOff x="927000" y="1313225"/>
            <a:chExt cx="9144003" cy="5146601"/>
          </a:xfrm>
        </p:grpSpPr>
        <p:pic>
          <p:nvPicPr>
            <p:cNvPr id="182" name="Google Shape;182;p38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38"/>
            <p:cNvPicPr preferRelativeResize="0"/>
            <p:nvPr/>
          </p:nvPicPr>
          <p:blipFill rotWithShape="1">
            <a:blip r:embed="rId3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4" name="Google Shape;184;p38"/>
          <p:cNvSpPr/>
          <p:nvPr/>
        </p:nvSpPr>
        <p:spPr>
          <a:xfrm rot="-5400000">
            <a:off x="4558200" y="3730212"/>
            <a:ext cx="27600" cy="627900"/>
          </a:xfrm>
          <a:prstGeom prst="rect">
            <a:avLst/>
          </a:prstGeom>
          <a:gradFill>
            <a:gsLst>
              <a:gs pos="0">
                <a:srgbClr val="00D2E9"/>
              </a:gs>
              <a:gs pos="100000">
                <a:srgbClr val="069DE2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-175999" y="1039743"/>
            <a:ext cx="770500" cy="45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1">
  <p:cSld name="CUSTOM_18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6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9"/>
          <p:cNvSpPr txBox="1"/>
          <p:nvPr/>
        </p:nvSpPr>
        <p:spPr>
          <a:xfrm>
            <a:off x="693753" y="1655916"/>
            <a:ext cx="7756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Let's talk?</a:t>
            </a:r>
            <a:endParaRPr b="1" i="0" sz="1700" u="none" cap="none" strike="noStrike">
              <a:solidFill>
                <a:schemeClr val="lt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190" name="Google Shape;190;p39"/>
          <p:cNvSpPr txBox="1"/>
          <p:nvPr/>
        </p:nvSpPr>
        <p:spPr>
          <a:xfrm>
            <a:off x="693750" y="2481275"/>
            <a:ext cx="49641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Our team is excited</a:t>
            </a:r>
            <a:endParaRPr b="0" i="0" sz="20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b="1" i="0" lang="en" sz="2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cocreate solutions</a:t>
            </a:r>
            <a:endParaRPr b="1" i="0" sz="20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your business challenges!</a:t>
            </a:r>
            <a:endParaRPr b="1" i="0" sz="24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6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0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0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19" y="311974"/>
            <a:ext cx="668526" cy="39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963470" y="4589986"/>
            <a:ext cx="998927" cy="4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1382470" y="4250423"/>
            <a:ext cx="998927" cy="4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2">
  <p:cSld name="CUSTOM_22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1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1490051" y="4303025"/>
            <a:ext cx="878674" cy="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1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26" y="311338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2">
  <p:cSld name="CUSTOM_20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10800000">
            <a:off x="260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4019" y="311974"/>
            <a:ext cx="668526" cy="39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8739" y="2131497"/>
            <a:ext cx="1767073" cy="477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42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2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1382470" y="4250423"/>
            <a:ext cx="998927" cy="4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5400000">
            <a:off x="7963470" y="4589986"/>
            <a:ext cx="998927" cy="44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42"/>
          <p:cNvSpPr txBox="1"/>
          <p:nvPr/>
        </p:nvSpPr>
        <p:spPr>
          <a:xfrm>
            <a:off x="2123250" y="2706912"/>
            <a:ext cx="4897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Innovative solutions and</a:t>
            </a:r>
            <a:endParaRPr b="0" i="0" sz="11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business impact, </a:t>
            </a:r>
            <a:r>
              <a:rPr b="1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delivered</a:t>
            </a: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16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3">
  <p:cSld name="CUSTOM_2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3"/>
          <p:cNvSpPr txBox="1"/>
          <p:nvPr/>
        </p:nvSpPr>
        <p:spPr>
          <a:xfrm>
            <a:off x="693753" y="1655916"/>
            <a:ext cx="7756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Let's talk?</a:t>
            </a:r>
            <a:endParaRPr b="1" i="0" sz="1700" u="none" cap="none" strike="noStrike">
              <a:solidFill>
                <a:schemeClr val="dk2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15" name="Google Shape;215;p43"/>
          <p:cNvSpPr txBox="1"/>
          <p:nvPr/>
        </p:nvSpPr>
        <p:spPr>
          <a:xfrm>
            <a:off x="693750" y="2481275"/>
            <a:ext cx="49641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Our team is excited</a:t>
            </a:r>
            <a:endParaRPr b="0" i="0" sz="2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b="1" i="0" lang="en" sz="20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cocreate solutions</a:t>
            </a:r>
            <a:endParaRPr b="1" i="0" sz="2000" u="none" cap="none" strike="noStrike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your business challenges!</a:t>
            </a:r>
            <a:endParaRPr b="1" i="0" sz="2400" u="none" cap="none" strike="noStrike">
              <a:solidFill>
                <a:schemeClr val="dk1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3">
  <p:cSld name="CUSTOM_2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95175" y="2142593"/>
            <a:ext cx="1753651" cy="473819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44"/>
          <p:cNvSpPr/>
          <p:nvPr/>
        </p:nvSpPr>
        <p:spPr>
          <a:xfrm>
            <a:off x="6287750" y="0"/>
            <a:ext cx="2856300" cy="1014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4"/>
          <p:cNvSpPr txBox="1"/>
          <p:nvPr/>
        </p:nvSpPr>
        <p:spPr>
          <a:xfrm>
            <a:off x="2123250" y="2695824"/>
            <a:ext cx="4897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Innovative solutions and</a:t>
            </a:r>
            <a:endParaRPr b="0" i="0" sz="11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business impact, </a:t>
            </a:r>
            <a:r>
              <a:rPr b="1" i="0" lang="en" sz="11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delivered</a:t>
            </a:r>
            <a:r>
              <a:rPr b="0" i="0" lang="en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15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220" name="Google Shape;22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90051" y="4303025"/>
            <a:ext cx="878674" cy="38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4"/>
          <p:cNvSpPr/>
          <p:nvPr/>
        </p:nvSpPr>
        <p:spPr>
          <a:xfrm>
            <a:off x="0" y="3946150"/>
            <a:ext cx="1656600" cy="1197300"/>
          </a:xfrm>
          <a:prstGeom prst="rect">
            <a:avLst/>
          </a:prstGeom>
          <a:solidFill>
            <a:srgbClr val="00C8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26" y="311338"/>
            <a:ext cx="668519" cy="3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4">
  <p:cSld name="CUSTOM_24">
    <p:bg>
      <p:bgPr>
        <a:solidFill>
          <a:srgbClr val="00325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5"/>
          <p:cNvSpPr txBox="1"/>
          <p:nvPr/>
        </p:nvSpPr>
        <p:spPr>
          <a:xfrm>
            <a:off x="693753" y="1655916"/>
            <a:ext cx="7756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dk2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Let's talk?</a:t>
            </a:r>
            <a:endParaRPr b="1" i="0" sz="1700" u="none" cap="none" strike="noStrike">
              <a:solidFill>
                <a:schemeClr val="dk2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26" name="Google Shape;226;p45"/>
          <p:cNvSpPr txBox="1"/>
          <p:nvPr/>
        </p:nvSpPr>
        <p:spPr>
          <a:xfrm>
            <a:off x="693750" y="2481275"/>
            <a:ext cx="4964100" cy="11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Our team is excited</a:t>
            </a:r>
            <a:endParaRPr b="0" i="0" sz="20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</a:t>
            </a:r>
            <a:r>
              <a:rPr b="1" i="0" lang="en" sz="20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cocreate solutions</a:t>
            </a:r>
            <a:endParaRPr b="1" i="0" sz="20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" sz="20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 your business challenges!</a:t>
            </a:r>
            <a:endParaRPr b="1" i="0" sz="24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 1">
  <p:cSld name="CUSTOM_34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g31351ab0166_0_1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82173" y="0"/>
            <a:ext cx="4916874" cy="2110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g31351ab0166_0_144"/>
          <p:cNvPicPr preferRelativeResize="0"/>
          <p:nvPr/>
        </p:nvPicPr>
        <p:blipFill rotWithShape="1">
          <a:blip r:embed="rId3">
            <a:alphaModFix/>
          </a:blip>
          <a:srcRect b="17769" l="0" r="1845" t="0"/>
          <a:stretch/>
        </p:blipFill>
        <p:spPr>
          <a:xfrm>
            <a:off x="1" y="-775"/>
            <a:ext cx="914400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0" name="Google Shape;230;g31351ab0166_0_144"/>
          <p:cNvGrpSpPr/>
          <p:nvPr/>
        </p:nvGrpSpPr>
        <p:grpSpPr>
          <a:xfrm>
            <a:off x="-4578" y="-2332"/>
            <a:ext cx="9153147" cy="5146601"/>
            <a:chOff x="927000" y="1313225"/>
            <a:chExt cx="9144003" cy="5146601"/>
          </a:xfrm>
        </p:grpSpPr>
        <p:pic>
          <p:nvPicPr>
            <p:cNvPr id="231" name="Google Shape;231;g31351ab0166_0_144"/>
            <p:cNvPicPr preferRelativeResize="0"/>
            <p:nvPr/>
          </p:nvPicPr>
          <p:blipFill rotWithShape="1">
            <a:blip r:embed="rId4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g31351ab0166_0_144"/>
            <p:cNvPicPr preferRelativeResize="0"/>
            <p:nvPr/>
          </p:nvPicPr>
          <p:blipFill rotWithShape="1">
            <a:blip r:embed="rId4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33" name="Google Shape;233;g31351ab0166_0_1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9275" y="4569080"/>
            <a:ext cx="447750" cy="121794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g31351ab0166_0_144"/>
          <p:cNvSpPr txBox="1"/>
          <p:nvPr/>
        </p:nvSpPr>
        <p:spPr>
          <a:xfrm>
            <a:off x="457200" y="4601475"/>
            <a:ext cx="612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FFFFF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g37c9978ee7e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595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g37c9978ee7e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g37c9978ee7e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5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g37c9978ee7e_0_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03551" y="4543525"/>
            <a:ext cx="181099" cy="26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7c9978ee7e_0_16"/>
          <p:cNvSpPr txBox="1"/>
          <p:nvPr/>
        </p:nvSpPr>
        <p:spPr>
          <a:xfrm>
            <a:off x="1327150" y="1951500"/>
            <a:ext cx="6478500" cy="124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Report Mensal</a:t>
            </a:r>
            <a:endParaRPr b="1" i="0" sz="3600" u="none" cap="none" strike="noStrike">
              <a:solidFill>
                <a:srgbClr val="FFFFFF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" sz="13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Evolução de consumo AWS | </a:t>
            </a:r>
            <a:r>
              <a:rPr b="0" i="1" lang="en" sz="1300" u="none" cap="none" strike="noStrike">
                <a:solidFill>
                  <a:srgbClr val="FFE599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Wilson Sons</a:t>
            </a:r>
            <a:endParaRPr b="0" i="1" sz="1300" u="none" cap="none" strike="noStrike">
              <a:solidFill>
                <a:srgbClr val="FFE59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0" i="1" sz="1300" u="none" cap="none" strike="noStrike">
              <a:solidFill>
                <a:srgbClr val="FFE599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4" name="Google Shape;244;g37c9978ee7e_0_16"/>
          <p:cNvSpPr txBox="1"/>
          <p:nvPr/>
        </p:nvSpPr>
        <p:spPr>
          <a:xfrm>
            <a:off x="460314" y="4620274"/>
            <a:ext cx="6153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F7F8FD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e-core</a:t>
            </a:r>
            <a:r>
              <a:rPr b="0" i="0" lang="en" sz="700" u="none" cap="none" strike="noStrike">
                <a:solidFill>
                  <a:srgbClr val="F7F8FD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.com</a:t>
            </a:r>
            <a:endParaRPr b="0" i="0" sz="700" u="none" cap="none" strike="noStrike">
              <a:solidFill>
                <a:srgbClr val="F7F8FD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45" name="Google Shape;245;g37c9978ee7e_0_16"/>
          <p:cNvSpPr txBox="1"/>
          <p:nvPr/>
        </p:nvSpPr>
        <p:spPr>
          <a:xfrm rot="-5400000">
            <a:off x="-656600" y="1382823"/>
            <a:ext cx="2349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EVOLUTION</a:t>
            </a:r>
            <a:r>
              <a:rPr b="0" i="0" lang="en" sz="800" u="none" cap="none" strike="noStrike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IS OUR </a:t>
            </a:r>
            <a:r>
              <a:rPr b="1" i="0" lang="en" sz="8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CORE</a:t>
            </a:r>
            <a:endParaRPr b="1" i="0" sz="8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246" name="Google Shape;246;g37c9978ee7e_0_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7950621" y="271037"/>
            <a:ext cx="1018500" cy="449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7c9978ee7e_0_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-306800" y="455939"/>
            <a:ext cx="671243" cy="39319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g37c9978ee7e_0_16"/>
          <p:cNvCxnSpPr/>
          <p:nvPr/>
        </p:nvCxnSpPr>
        <p:spPr>
          <a:xfrm>
            <a:off x="2872350" y="2711675"/>
            <a:ext cx="3399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1351ab0166_0_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8793" y="653480"/>
            <a:ext cx="915210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1351ab0166_0_155"/>
          <p:cNvSpPr txBox="1"/>
          <p:nvPr>
            <p:ph type="title"/>
          </p:nvPr>
        </p:nvSpPr>
        <p:spPr>
          <a:xfrm>
            <a:off x="727475" y="576831"/>
            <a:ext cx="33405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Evolução Custos AWS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1400" u="none" cap="none" strike="noStrike">
                <a:solidFill>
                  <a:srgbClr val="00325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6 meses</a:t>
            </a:r>
            <a:endParaRPr b="0" i="0" sz="14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55" name="Google Shape;255;g31351ab0166_0_155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6" name="Google Shape;256;g31351ab0166_0_15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568" y="994106"/>
            <a:ext cx="6094881" cy="3768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g31351ab0166_0_2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8793" y="653480"/>
            <a:ext cx="915210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1351ab0166_0_222"/>
          <p:cNvSpPr txBox="1"/>
          <p:nvPr>
            <p:ph type="title"/>
          </p:nvPr>
        </p:nvSpPr>
        <p:spPr>
          <a:xfrm>
            <a:off x="727475" y="576831"/>
            <a:ext cx="33405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Evolução Custos AWS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1400" u="none" cap="none" strike="noStrike">
                <a:solidFill>
                  <a:srgbClr val="00325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Top Ten Serviços</a:t>
            </a:r>
            <a:endParaRPr b="0" i="0" sz="14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63" name="Google Shape;263;g31351ab0166_0_222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1351ab0166_0_222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73056" y="915744"/>
            <a:ext cx="5997882" cy="3768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1351ab0166_0_228"/>
          <p:cNvSpPr txBox="1"/>
          <p:nvPr>
            <p:ph type="title"/>
          </p:nvPr>
        </p:nvSpPr>
        <p:spPr>
          <a:xfrm>
            <a:off x="727475" y="576825"/>
            <a:ext cx="6176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Serviços com maior oscilação de custos</a:t>
            </a:r>
            <a:endParaRPr b="0" i="0" sz="14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70" name="Google Shape;270;g31351ab0166_0_228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1" name="Google Shape;271;g31351ab0166_0_228"/>
          <p:cNvGraphicFramePr/>
          <p:nvPr/>
        </p:nvGraphicFramePr>
        <p:xfrm>
          <a:off x="0" y="254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{1B0B711C-D0DE-47C9-B782-D4273240BC84}</a:tableStyleId>
              </a:tblPr>
              <a:tblGrid>
                <a:gridCol w="1962150"/>
                <a:gridCol w="733425"/>
                <a:gridCol w="809625"/>
                <a:gridCol w="771525"/>
                <a:gridCol w="847725"/>
                <a:gridCol w="981075"/>
                <a:gridCol w="1295400"/>
                <a:gridCol w="790575"/>
                <a:gridCol w="95250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Service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September 2025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October 2025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November 2025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December 2025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January 2026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February 2026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Média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12BCC6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Aumento</a:t>
                      </a:r>
                      <a:endParaRPr b="1" sz="900">
                        <a:solidFill>
                          <a:srgbClr val="12BCC6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S3</a:t>
                      </a:r>
                      <a:endParaRPr b="1" sz="8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$3.411,90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$2.436,31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$2.519,01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$4.737,46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$12.485,12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$19.751,78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$7.556,93</a:t>
                      </a:r>
                      <a:endParaRPr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8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161,37%</a:t>
                      </a:r>
                      <a:endParaRPr b="1" sz="8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1a09c2c354_0_0"/>
          <p:cNvSpPr txBox="1"/>
          <p:nvPr>
            <p:ph type="title"/>
          </p:nvPr>
        </p:nvSpPr>
        <p:spPr>
          <a:xfrm>
            <a:off x="727475" y="576825"/>
            <a:ext cx="6176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Cobertura e Utilização de Reservas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77" name="Google Shape;277;g31a09c2c354_0_0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8" name="Google Shape;278;g31a09c2c354_0_0"/>
          <p:cNvGraphicFramePr/>
          <p:nvPr/>
        </p:nvGraphicFramePr>
        <p:xfrm>
          <a:off x="0" y="219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{1B0B711C-D0DE-47C9-B782-D4273240BC84}</a:tableStyleId>
              </a:tblPr>
              <a:tblGrid>
                <a:gridCol w="1457325"/>
                <a:gridCol w="885825"/>
                <a:gridCol w="981075"/>
                <a:gridCol w="1123950"/>
                <a:gridCol w="819150"/>
                <a:gridCol w="1419225"/>
                <a:gridCol w="819150"/>
                <a:gridCol w="819150"/>
                <a:gridCol w="8191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Cobertura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Dezembro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Janeiro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Fevereiro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Utilização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Dezembro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Janeiro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Fevereiro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Compute Savings Plans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86%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86%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87%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Compute Savings Plans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96%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RDS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23%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9050" marB="19050" marR="28575" marL="28575" anchor="b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RDS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0%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279" name="Google Shape;279;g31a09c2c354_0_0"/>
          <p:cNvGraphicFramePr/>
          <p:nvPr/>
        </p:nvGraphicFramePr>
        <p:xfrm>
          <a:off x="2647950" y="35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{1B0B711C-D0DE-47C9-B782-D4273240BC84}</a:tableStyleId>
              </a:tblPr>
              <a:tblGrid>
                <a:gridCol w="1685925"/>
                <a:gridCol w="1028700"/>
                <a:gridCol w="11334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Economia Acumulada 2025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Economia $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Economia R$</a:t>
                      </a:r>
                      <a:endParaRPr b="1" sz="9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325A"/>
                    </a:solidFill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Compute Savings Plans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$35.196,47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R$193.580,59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RDS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$0,00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R$0,00</a:t>
                      </a:r>
                      <a:endParaRPr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Total</a:t>
                      </a:r>
                      <a:endParaRPr b="1"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$35.196,47</a:t>
                      </a:r>
                      <a:endParaRPr b="1"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900">
                          <a:solidFill>
                            <a:srgbClr val="00325A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R$193.580,59</a:t>
                      </a:r>
                      <a:endParaRPr b="1" sz="900">
                        <a:solidFill>
                          <a:srgbClr val="00325A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19050" marB="19050" marR="28575" marL="28575" anchor="b">
                    <a:lnT cap="flat" cmpd="sng" w="19050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d57395312f_0_82"/>
          <p:cNvSpPr txBox="1"/>
          <p:nvPr>
            <p:ph type="title"/>
          </p:nvPr>
        </p:nvSpPr>
        <p:spPr>
          <a:xfrm>
            <a:off x="727475" y="576831"/>
            <a:ext cx="33405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Economia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" sz="1400" u="none" cap="none" strike="noStrike">
                <a:solidFill>
                  <a:srgbClr val="00325A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Pontos de Atenção</a:t>
            </a:r>
            <a:endParaRPr b="0" i="0" sz="1400" u="none" cap="none" strike="noStrike">
              <a:solidFill>
                <a:srgbClr val="00325A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85" name="Google Shape;285;g2d57395312f_0_82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6" name="Google Shape;286;g2d57395312f_0_82"/>
          <p:cNvPicPr preferRelativeResize="0"/>
          <p:nvPr/>
        </p:nvPicPr>
        <p:blipFill rotWithShape="1">
          <a:blip r:embed="rId3">
            <a:alphaModFix/>
          </a:blip>
          <a:srcRect b="0" l="59183" r="5693" t="0"/>
          <a:stretch/>
        </p:blipFill>
        <p:spPr>
          <a:xfrm>
            <a:off x="6437450" y="0"/>
            <a:ext cx="2706550" cy="51435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7" name="Google Shape;287;g2d57395312f_0_82"/>
          <p:cNvGrpSpPr/>
          <p:nvPr/>
        </p:nvGrpSpPr>
        <p:grpSpPr>
          <a:xfrm>
            <a:off x="6442030" y="-1550"/>
            <a:ext cx="2706625" cy="5146601"/>
            <a:chOff x="927000" y="1313225"/>
            <a:chExt cx="9144003" cy="5146601"/>
          </a:xfrm>
        </p:grpSpPr>
        <p:pic>
          <p:nvPicPr>
            <p:cNvPr id="288" name="Google Shape;288;g2d57395312f_0_82"/>
            <p:cNvPicPr preferRelativeResize="0"/>
            <p:nvPr/>
          </p:nvPicPr>
          <p:blipFill rotWithShape="1">
            <a:blip r:embed="rId4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9" name="Google Shape;289;g2d57395312f_0_82"/>
            <p:cNvPicPr preferRelativeResize="0"/>
            <p:nvPr/>
          </p:nvPicPr>
          <p:blipFill rotWithShape="1">
            <a:blip r:embed="rId4">
              <a:alphaModFix amt="84000"/>
            </a:blip>
            <a:srcRect b="0" l="0" r="0" t="0"/>
            <a:stretch/>
          </p:blipFill>
          <p:spPr>
            <a:xfrm>
              <a:off x="927000" y="1313225"/>
              <a:ext cx="9144003" cy="514660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0" name="Google Shape;290;g2d57395312f_0_8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4068" y="555380"/>
            <a:ext cx="915210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g2d57395312f_0_82"/>
          <p:cNvSpPr txBox="1"/>
          <p:nvPr/>
        </p:nvSpPr>
        <p:spPr>
          <a:xfrm>
            <a:off x="675625" y="1487325"/>
            <a:ext cx="5761800" cy="29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Itens que requerem atenção devido oscilações nos custos: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Light"/>
              <a:buChar char="●"/>
            </a:pP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2 </a:t>
            </a:r>
            <a:r>
              <a:rPr b="0" i="0" lang="en" sz="1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Idle Redshift Nodes - Economia mensal: 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$1,247.04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Light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Idle Elastic Load Balancers - Economia mensal: </a:t>
            </a:r>
            <a:r>
              <a:rPr lang="en" sz="10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$24.48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Light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Unused Elastic Load Balancers - Economia mensal: $24.48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-292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Light"/>
              <a:buChar char="●"/>
            </a:pPr>
            <a:r>
              <a:rPr b="0" i="0" lang="en" sz="10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2 Unused Elastic IP Addresses - Economia mensal: $7.20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Economia Total - </a:t>
            </a:r>
            <a:r>
              <a:rPr b="1" lang="en" sz="1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$1,303.20</a:t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g2d57395312f_0_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8793" y="653480"/>
            <a:ext cx="915210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g2d57395312f_0_95"/>
          <p:cNvSpPr txBox="1"/>
          <p:nvPr>
            <p:ph type="title"/>
          </p:nvPr>
        </p:nvSpPr>
        <p:spPr>
          <a:xfrm>
            <a:off x="727475" y="576831"/>
            <a:ext cx="6176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Tagueamento de Recursos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298" name="Google Shape;298;g2d57395312f_0_95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g2d57395312f_0_95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568" y="982081"/>
            <a:ext cx="6094881" cy="37686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g2d57395312f_0_1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28793" y="653480"/>
            <a:ext cx="915210" cy="53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2d57395312f_0_120"/>
          <p:cNvSpPr txBox="1"/>
          <p:nvPr>
            <p:ph type="title"/>
          </p:nvPr>
        </p:nvSpPr>
        <p:spPr>
          <a:xfrm>
            <a:off x="727475" y="576831"/>
            <a:ext cx="61764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" sz="2200" u="none" cap="none" strike="noStrike">
                <a:solidFill>
                  <a:srgbClr val="00325A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Ferramenta CloudCheckr</a:t>
            </a:r>
            <a:endParaRPr b="1" i="0" sz="2200" u="none" cap="none" strike="noStrike">
              <a:solidFill>
                <a:srgbClr val="00325A"/>
              </a:solidFill>
              <a:latin typeface="Open Sans ExtraBold"/>
              <a:ea typeface="Open Sans ExtraBold"/>
              <a:cs typeface="Open Sans ExtraBold"/>
              <a:sym typeface="Open Sans ExtraBold"/>
            </a:endParaRPr>
          </a:p>
        </p:txBody>
      </p:sp>
      <p:sp>
        <p:nvSpPr>
          <p:cNvPr id="306" name="Google Shape;306;g2d57395312f_0_120"/>
          <p:cNvSpPr/>
          <p:nvPr/>
        </p:nvSpPr>
        <p:spPr>
          <a:xfrm rot="5400000">
            <a:off x="362356" y="802281"/>
            <a:ext cx="536100" cy="42300"/>
          </a:xfrm>
          <a:prstGeom prst="rect">
            <a:avLst/>
          </a:prstGeom>
          <a:solidFill>
            <a:srgbClr val="11BCC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g2d57395312f_0_1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250" y="1243875"/>
            <a:ext cx="4479301" cy="220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g2d57395312f_0_1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40950" y="1341976"/>
            <a:ext cx="3750650" cy="210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325A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g2d57395312f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5400000">
            <a:off x="7955743" y="4586323"/>
            <a:ext cx="1014369" cy="4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g2d57395312f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74026" y="311338"/>
            <a:ext cx="668519" cy="39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2d57395312f_0_9"/>
          <p:cNvSpPr txBox="1"/>
          <p:nvPr/>
        </p:nvSpPr>
        <p:spPr>
          <a:xfrm>
            <a:off x="2123250" y="2735799"/>
            <a:ext cx="4897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Innovative solutions and</a:t>
            </a:r>
            <a:endParaRPr b="0" i="0" sz="1100" u="none" cap="none" strike="noStrike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business impact, </a:t>
            </a:r>
            <a:r>
              <a:rPr b="1" i="0" lang="en" sz="1100" u="none" cap="none" strike="noStrike">
                <a:solidFill>
                  <a:schemeClr val="dk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delivered</a:t>
            </a:r>
            <a:r>
              <a:rPr b="0" i="0" lang="en" sz="1100" u="none" cap="none" strike="noStrike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1600" u="none" cap="none" strike="noStrike">
              <a:solidFill>
                <a:schemeClr val="dk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pic>
        <p:nvPicPr>
          <p:cNvPr id="316" name="Google Shape;316;g2d57395312f_0_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20702" y="2102603"/>
            <a:ext cx="1809300" cy="48855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2d57395312f_0_9"/>
          <p:cNvSpPr txBox="1"/>
          <p:nvPr/>
        </p:nvSpPr>
        <p:spPr>
          <a:xfrm>
            <a:off x="4586175" y="2798750"/>
            <a:ext cx="104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100" u="none" cap="none" strike="noStrike">
                <a:solidFill>
                  <a:schemeClr val="lt1"/>
                </a:solidFill>
                <a:latin typeface="Open Sans ExtraBold"/>
                <a:ea typeface="Open Sans ExtraBold"/>
                <a:cs typeface="Open Sans ExtraBold"/>
                <a:sym typeface="Open Sans ExtraBold"/>
              </a:rPr>
              <a:t>delivered</a:t>
            </a:r>
            <a:r>
              <a:rPr b="0" i="0" lang="en" sz="11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00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plate e-Core - 3.0 ">
  <a:themeElements>
    <a:clrScheme name="Simple Light">
      <a:dk1>
        <a:srgbClr val="00325A"/>
      </a:dk1>
      <a:lt1>
        <a:srgbClr val="FFFFFF"/>
      </a:lt1>
      <a:dk2>
        <a:srgbClr val="00BEC8"/>
      </a:dk2>
      <a:lt2>
        <a:srgbClr val="EEEEEE"/>
      </a:lt2>
      <a:accent1>
        <a:srgbClr val="00C8D2"/>
      </a:accent1>
      <a:accent2>
        <a:srgbClr val="00325A"/>
      </a:accent2>
      <a:accent3>
        <a:srgbClr val="FFFFFF"/>
      </a:accent3>
      <a:accent4>
        <a:srgbClr val="00C8D2"/>
      </a:accent4>
      <a:accent5>
        <a:srgbClr val="00325A"/>
      </a:accent5>
      <a:accent6>
        <a:srgbClr val="00C8D2"/>
      </a:accent6>
      <a:hlink>
        <a:srgbClr val="00C8D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